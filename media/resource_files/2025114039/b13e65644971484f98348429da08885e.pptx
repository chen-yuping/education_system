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449"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6660"/>
    <a:srgbClr val="F0D2AF"/>
    <a:srgbClr val="FF99FF"/>
    <a:srgbClr val="B7C8A5"/>
    <a:srgbClr val="D76739"/>
    <a:srgbClr val="13396C"/>
    <a:srgbClr val="E8BD88"/>
    <a:srgbClr val="34524D"/>
    <a:srgbClr val="0B203D"/>
    <a:srgbClr val="9AB2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14" autoAdjust="0"/>
    <p:restoredTop sz="94660"/>
  </p:normalViewPr>
  <p:slideViewPr>
    <p:cSldViewPr snapToGrid="0">
      <p:cViewPr varScale="1">
        <p:scale>
          <a:sx n="96" d="100"/>
          <a:sy n="96" d="100"/>
        </p:scale>
        <p:origin x="568" y="52"/>
      </p:cViewPr>
      <p:guideLst>
        <p:guide orient="horz" pos="2160"/>
        <p:guide pos="3840"/>
      </p:guideLst>
    </p:cSldViewPr>
  </p:slideViewPr>
  <p:notesTextViewPr>
    <p:cViewPr>
      <p:scale>
        <a:sx n="1" d="1"/>
        <a:sy n="1" d="1"/>
      </p:scale>
      <p:origin x="0" y="0"/>
    </p:cViewPr>
  </p:notesTextViewPr>
  <p:sorterViewPr>
    <p:cViewPr>
      <p:scale>
        <a:sx n="75" d="100"/>
        <a:sy n="75" d="100"/>
      </p:scale>
      <p:origin x="0" y="-4512"/>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1ED84F-DB9B-4B01-B9CB-DDD04428EACD}" type="datetimeFigureOut">
              <a:rPr lang="zh-CN" altLang="en-US" smtClean="0"/>
              <a:pPr/>
              <a:t>2026/5/18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CB93BF-AD11-4712-9135-044AB1CECE73}" type="slidenum">
              <a:rPr lang="zh-CN" altLang="en-US" smtClean="0"/>
              <a:pPr/>
              <a:t>‹#›</a:t>
            </a:fld>
            <a:endParaRPr lang="zh-CN" altLang="en-US"/>
          </a:p>
        </p:txBody>
      </p:sp>
    </p:spTree>
    <p:extLst>
      <p:ext uri="{BB962C8B-B14F-4D97-AF65-F5344CB8AC3E}">
        <p14:creationId xmlns:p14="http://schemas.microsoft.com/office/powerpoint/2010/main" val="1038958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827845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gradFill flip="none" rotWithShape="1">
          <a:gsLst>
            <a:gs pos="0">
              <a:schemeClr val="bg1"/>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pPr/>
              <a:t>‹#›</a:t>
            </a:fld>
            <a:endParaRPr lang="zh-CN" altLang="en-US"/>
          </a:p>
        </p:txBody>
      </p:sp>
      <p:sp>
        <p:nvSpPr>
          <p:cNvPr id="7" name="矩形 6"/>
          <p:cNvSpPr/>
          <p:nvPr userDrawn="1"/>
        </p:nvSpPr>
        <p:spPr>
          <a:xfrm>
            <a:off x="0" y="261620"/>
            <a:ext cx="416560" cy="571500"/>
          </a:xfrm>
          <a:prstGeom prst="rect">
            <a:avLst/>
          </a:prstGeom>
          <a:solidFill>
            <a:srgbClr val="D767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userDrawn="1"/>
        </p:nvCxnSpPr>
        <p:spPr>
          <a:xfrm>
            <a:off x="0" y="894080"/>
            <a:ext cx="11826240" cy="0"/>
          </a:xfrm>
          <a:prstGeom prst="line">
            <a:avLst/>
          </a:prstGeom>
          <a:ln w="12700">
            <a:solidFill>
              <a:srgbClr val="D767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59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2920259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423334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84747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3127600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569710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226503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620670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128837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166FB0D-3649-4659-A4EA-16B622D04D18}" type="datetimeFigureOut">
              <a:rPr lang="zh-CN" altLang="en-US" smtClean="0"/>
              <a:pPr/>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pPr/>
              <a:t>‹#›</a:t>
            </a:fld>
            <a:endParaRPr lang="zh-CN" altLang="en-US"/>
          </a:p>
        </p:txBody>
      </p:sp>
    </p:spTree>
    <p:extLst>
      <p:ext uri="{BB962C8B-B14F-4D97-AF65-F5344CB8AC3E}">
        <p14:creationId xmlns:p14="http://schemas.microsoft.com/office/powerpoint/2010/main" val="1097904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838200" y="1209823"/>
            <a:ext cx="10781714" cy="524724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Content Placeholder 2"/>
          <p:cNvSpPr>
            <a:spLocks noGrp="1"/>
          </p:cNvSpPr>
          <p:nvPr>
            <p:ph idx="13" hasCustomPrompt="1"/>
          </p:nvPr>
        </p:nvSpPr>
        <p:spPr>
          <a:xfrm>
            <a:off x="841375" y="739180"/>
            <a:ext cx="10747058" cy="464458"/>
          </a:xfrm>
          <a:prstGeom prst="rect">
            <a:avLst/>
          </a:prstGeom>
        </p:spPr>
        <p:txBody>
          <a:bodyPr/>
          <a:lstStyle>
            <a:lvl1pPr marL="0" indent="0">
              <a:lnSpc>
                <a:spcPct val="120000"/>
              </a:lnSpc>
              <a:buSzPct val="80000"/>
              <a:buFont typeface="Wingdings" pitchFamily="2" charset="2"/>
              <a:buNone/>
              <a:defRPr b="0">
                <a:solidFill>
                  <a:srgbClr val="07836E"/>
                </a:solidFill>
              </a:defRPr>
            </a:lvl1pPr>
          </a:lstStyle>
          <a:p>
            <a:pPr lvl="0"/>
            <a:r>
              <a:rPr lang="en-US" dirty="0"/>
              <a:t>Click to edit Master text styles</a:t>
            </a:r>
          </a:p>
        </p:txBody>
      </p:sp>
    </p:spTree>
    <p:extLst>
      <p:ext uri="{BB962C8B-B14F-4D97-AF65-F5344CB8AC3E}">
        <p14:creationId xmlns:p14="http://schemas.microsoft.com/office/powerpoint/2010/main" val="3860358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9280" y="344805"/>
            <a:ext cx="4663440" cy="5492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066800"/>
            <a:ext cx="10942320" cy="5110163"/>
          </a:xfrm>
          <a:prstGeom prst="rect">
            <a:avLst/>
          </a:prstGeom>
        </p:spPr>
        <p:txBody>
          <a:bodyPr vert="horz" lIns="91440" tIns="45720" rIns="91440" bIns="45720" rtlCol="0">
            <a:normAutofit/>
          </a:bodyPr>
          <a:lstStyle/>
          <a:p>
            <a:pPr lvl="0"/>
            <a:r>
              <a:rPr lang="zh-CN" altLang="en-US" dirty="0"/>
              <a:t>单击此处编辑母版文本样式</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66FB0D-3649-4659-A4EA-16B622D04D18}" type="datetimeFigureOut">
              <a:rPr lang="zh-CN" altLang="en-US" smtClean="0"/>
              <a:pPr/>
              <a:t>2026/5/18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C0CA1-3571-4BD4-9253-723F5D1C3D94}" type="slidenum">
              <a:rPr lang="zh-CN" altLang="en-US" smtClean="0"/>
              <a:pPr/>
              <a:t>‹#›</a:t>
            </a:fld>
            <a:endParaRPr lang="zh-CN" altLang="en-US"/>
          </a:p>
        </p:txBody>
      </p:sp>
      <p:sp>
        <p:nvSpPr>
          <p:cNvPr id="7" name="矩形 6"/>
          <p:cNvSpPr/>
          <p:nvPr/>
        </p:nvSpPr>
        <p:spPr>
          <a:xfrm>
            <a:off x="0" y="261620"/>
            <a:ext cx="416560" cy="571500"/>
          </a:xfrm>
          <a:prstGeom prst="rect">
            <a:avLst/>
          </a:prstGeom>
          <a:solidFill>
            <a:srgbClr val="D767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0" y="894080"/>
            <a:ext cx="11826240" cy="0"/>
          </a:xfrm>
          <a:prstGeom prst="line">
            <a:avLst/>
          </a:prstGeom>
          <a:ln w="12700">
            <a:solidFill>
              <a:srgbClr val="D767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341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2200" kern="1200">
          <a:solidFill>
            <a:schemeClr val="tx1">
              <a:lumMod val="85000"/>
              <a:lumOff val="15000"/>
            </a:schemeClr>
          </a:solidFill>
          <a:latin typeface="+mj-lt"/>
          <a:ea typeface="+mj-ea"/>
          <a:cs typeface="+mj-cs"/>
        </a:defRPr>
      </a:lvl1pPr>
    </p:titleStyle>
    <p:bodyStyle>
      <a:lvl1pPr marL="0" indent="457200" algn="l" defTabSz="914400" rtl="0" eaLnBrk="1" latinLnBrk="0" hangingPunct="1">
        <a:lnSpc>
          <a:spcPct val="130000"/>
        </a:lnSpc>
        <a:spcBef>
          <a:spcPts val="0"/>
        </a:spcBef>
        <a:buFont typeface="Arial" panose="020B0604020202020204" pitchFamily="34" charset="0"/>
        <a:buNone/>
        <a:defRPr sz="20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066800"/>
            <a:ext cx="10942320" cy="5537200"/>
          </a:xfrm>
          <a:solidFill>
            <a:schemeClr val="accent6">
              <a:lumMod val="40000"/>
              <a:lumOff val="60000"/>
            </a:schemeClr>
          </a:solidFill>
        </p:spPr>
        <p:txBody>
          <a:bodyPr>
            <a:normAutofit lnSpcReduction="10000"/>
          </a:bodyPr>
          <a:lstStyle/>
          <a:p>
            <a:r>
              <a:rPr lang="en-US" altLang="zh-CN" dirty="0"/>
              <a:t>3</a:t>
            </a:r>
            <a:r>
              <a:rPr lang="zh-CN" altLang="en-US" dirty="0"/>
              <a:t>．防火墙的特性</a:t>
            </a:r>
            <a:endParaRPr lang="en-US" altLang="zh-CN" dirty="0"/>
          </a:p>
          <a:p>
            <a:r>
              <a:rPr lang="zh-CN" altLang="en-US" dirty="0"/>
              <a:t>一个好的防火墙系统应具有 </a:t>
            </a:r>
            <a:r>
              <a:rPr lang="en-US" altLang="zh-CN" dirty="0"/>
              <a:t>3 </a:t>
            </a:r>
            <a:r>
              <a:rPr lang="zh-CN" altLang="en-US" dirty="0"/>
              <a:t>方面的特性：</a:t>
            </a:r>
            <a:endParaRPr lang="en-US" altLang="zh-CN" dirty="0"/>
          </a:p>
          <a:p>
            <a:pPr>
              <a:buClr>
                <a:srgbClr val="C00000"/>
              </a:buClr>
              <a:buFont typeface="Wingdings" pitchFamily="2" charset="2"/>
              <a:buChar char="l"/>
            </a:pPr>
            <a:r>
              <a:rPr lang="zh-CN" altLang="en-US" dirty="0"/>
              <a:t>所有在内部网络和外部网络之间传输的数据必须通过防火墙；</a:t>
            </a:r>
            <a:endParaRPr lang="en-US" altLang="zh-CN" dirty="0"/>
          </a:p>
          <a:p>
            <a:pPr>
              <a:buClr>
                <a:srgbClr val="C00000"/>
              </a:buClr>
              <a:buFont typeface="Wingdings" pitchFamily="2" charset="2"/>
              <a:buChar char="l"/>
            </a:pPr>
            <a:r>
              <a:rPr lang="zh-CN" altLang="en-US" dirty="0"/>
              <a:t>只有被授权的合法数据即防火墙系统中安全策略允许的数据可以通过防火墙；</a:t>
            </a:r>
            <a:endParaRPr lang="en-US" altLang="zh-CN" dirty="0"/>
          </a:p>
          <a:p>
            <a:pPr>
              <a:buClr>
                <a:srgbClr val="C00000"/>
              </a:buClr>
              <a:buFont typeface="Wingdings" pitchFamily="2" charset="2"/>
              <a:buChar char="l"/>
            </a:pPr>
            <a:r>
              <a:rPr lang="zh-CN" altLang="en-US" dirty="0"/>
              <a:t>防火墙本身不受各种攻击的影响。 </a:t>
            </a:r>
            <a:endParaRPr lang="en-US" altLang="zh-CN" dirty="0"/>
          </a:p>
          <a:p>
            <a:r>
              <a:rPr lang="en-US" altLang="zh-CN" dirty="0"/>
              <a:t>4</a:t>
            </a:r>
            <a:r>
              <a:rPr lang="zh-CN" altLang="en-US" dirty="0"/>
              <a:t>．防火墙的局限性</a:t>
            </a:r>
            <a:endParaRPr lang="en-US" altLang="zh-CN" dirty="0"/>
          </a:p>
          <a:p>
            <a:r>
              <a:rPr lang="zh-CN" altLang="en-US" dirty="0"/>
              <a:t>防火墙能过滤进出网络的数据包，能管理进出网络的访问行为。但防火墙不是万能的，还存在一定程度的局限性：</a:t>
            </a:r>
            <a:endParaRPr lang="en-US" altLang="zh-CN" dirty="0"/>
          </a:p>
          <a:p>
            <a:pPr>
              <a:buClr>
                <a:srgbClr val="C00000"/>
              </a:buClr>
              <a:buFont typeface="Wingdings" pitchFamily="2" charset="2"/>
              <a:buChar char="l"/>
            </a:pPr>
            <a:r>
              <a:rPr lang="zh-CN" altLang="en-US" dirty="0"/>
              <a:t>防火墙不能防范不经过防火墙的攻击，如拨号访问、内部攻击等；</a:t>
            </a:r>
            <a:endParaRPr lang="en-US" altLang="zh-CN" dirty="0"/>
          </a:p>
          <a:p>
            <a:pPr>
              <a:buClr>
                <a:srgbClr val="C00000"/>
              </a:buClr>
              <a:buFont typeface="Wingdings" pitchFamily="2" charset="2"/>
              <a:buChar char="l"/>
            </a:pPr>
            <a:r>
              <a:rPr lang="zh-CN" altLang="en-US" dirty="0"/>
              <a:t>防火墙不能防范利用电子邮件夹带的病毒等恶性程序；</a:t>
            </a:r>
            <a:endParaRPr lang="en-US" altLang="zh-CN" dirty="0"/>
          </a:p>
          <a:p>
            <a:pPr>
              <a:buClr>
                <a:srgbClr val="C00000"/>
              </a:buClr>
              <a:buFont typeface="Wingdings" pitchFamily="2" charset="2"/>
              <a:buChar char="l"/>
            </a:pPr>
            <a:r>
              <a:rPr lang="zh-CN" altLang="en-US" dirty="0"/>
              <a:t>防火墙不能解决来自内部网络的攻击和安全问题；</a:t>
            </a:r>
            <a:endParaRPr lang="en-US" altLang="zh-CN" dirty="0"/>
          </a:p>
          <a:p>
            <a:pPr>
              <a:buClr>
                <a:srgbClr val="C00000"/>
              </a:buClr>
              <a:buFont typeface="Wingdings" pitchFamily="2" charset="2"/>
              <a:buChar char="l"/>
            </a:pPr>
            <a:r>
              <a:rPr lang="zh-CN" altLang="en-US" dirty="0"/>
              <a:t>防火墙不能防止策略配置不当或错误配置引起的安全威胁； </a:t>
            </a:r>
            <a:br>
              <a:rPr lang="zh-CN" altLang="en-US" dirty="0"/>
            </a:br>
            <a:r>
              <a:rPr lang="zh-CN" altLang="en-US" dirty="0"/>
              <a:t> </a:t>
            </a:r>
            <a:br>
              <a:rPr lang="zh-CN" altLang="en-US" dirty="0"/>
            </a:br>
            <a:endParaRPr lang="zh-CN" altLang="en-US" dirty="0"/>
          </a:p>
        </p:txBody>
      </p:sp>
    </p:spTree>
  </p:cSld>
  <p:clrMapOvr>
    <a:masterClrMapping/>
  </p:clrMapOvr>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常用">
      <a:majorFont>
        <a:latin typeface="Arial"/>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3223</TotalTime>
  <Words>151</Words>
  <Application>Microsoft Office PowerPoint</Application>
  <PresentationFormat>宽屏</PresentationFormat>
  <Paragraphs>11</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微软雅黑</vt:lpstr>
      <vt:lpstr>Arial</vt:lpstr>
      <vt:lpstr>Calibri</vt:lpstr>
      <vt:lpstr>Times New Roman</vt:lpstr>
      <vt:lpstr>Wingdings</vt:lpstr>
      <vt:lpstr>清风素材 https://12sc.taobao.com</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12sc.taobao.com</dc:subject>
  <dc:creator>清风素材;12sc.taobao.com</dc:creator>
  <cp:keywords>12sc.taobao.com</cp:keywords>
  <dc:description>12sc.taobao.com</dc:description>
  <cp:lastModifiedBy>ASUS</cp:lastModifiedBy>
  <cp:revision>130</cp:revision>
  <dcterms:created xsi:type="dcterms:W3CDTF">2015-12-07T16:40:02Z</dcterms:created>
  <dcterms:modified xsi:type="dcterms:W3CDTF">2026-05-18T07:24:18Z</dcterms:modified>
  <cp:category>12sc.taobao.com</cp:category>
  <cp:contentStatus>12sc.taobao.com</cp:contentStatus>
</cp:coreProperties>
</file>